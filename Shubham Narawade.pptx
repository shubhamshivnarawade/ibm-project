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83" r:id="rId2"/>
    <p:sldId id="257" r:id="rId3"/>
    <p:sldId id="282" r:id="rId4"/>
    <p:sldId id="284" r:id="rId5"/>
    <p:sldId id="285" r:id="rId6"/>
    <p:sldId id="281" r:id="rId7"/>
    <p:sldId id="279" r:id="rId8"/>
    <p:sldId id="262" r:id="rId9"/>
    <p:sldId id="264" r:id="rId10"/>
    <p:sldId id="278" r:id="rId11"/>
    <p:sldId id="277" r:id="rId12"/>
    <p:sldId id="286" r:id="rId13"/>
    <p:sldId id="287" r:id="rId14"/>
    <p:sldId id="280" r:id="rId15"/>
    <p:sldId id="27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591CF7-6E22-14BF-DB99-3894772A19DF}" v="65" dt="2026-04-21T05:09:31.452"/>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ogesh Raje" userId="S::yogesh@edunetfoundation.org::9e0ba697-e1dc-452b-989f-11655901edb1" providerId="AD" clId="Web-{C5591CF7-6E22-14BF-DB99-3894772A19DF}"/>
    <pc:docChg chg="addSld delSld modSld sldOrd">
      <pc:chgData name="Yogesh Raje" userId="S::yogesh@edunetfoundation.org::9e0ba697-e1dc-452b-989f-11655901edb1" providerId="AD" clId="Web-{C5591CF7-6E22-14BF-DB99-3894772A19DF}" dt="2026-04-21T05:09:31.452" v="42" actId="1076"/>
      <pc:docMkLst>
        <pc:docMk/>
      </pc:docMkLst>
      <pc:sldChg chg="addSp delSp modSp">
        <pc:chgData name="Yogesh Raje" userId="S::yogesh@edunetfoundation.org::9e0ba697-e1dc-452b-989f-11655901edb1" providerId="AD" clId="Web-{C5591CF7-6E22-14BF-DB99-3894772A19DF}" dt="2026-04-21T05:09:31.452" v="42" actId="1076"/>
        <pc:sldMkLst>
          <pc:docMk/>
          <pc:sldMk cId="2115484872" sldId="277"/>
        </pc:sldMkLst>
        <pc:spChg chg="add del">
          <ac:chgData name="Yogesh Raje" userId="S::yogesh@edunetfoundation.org::9e0ba697-e1dc-452b-989f-11655901edb1" providerId="AD" clId="Web-{C5591CF7-6E22-14BF-DB99-3894772A19DF}" dt="2026-04-21T05:08:37.608" v="19"/>
          <ac:spMkLst>
            <pc:docMk/>
            <pc:sldMk cId="2115484872" sldId="277"/>
            <ac:spMk id="4" creationId="{844879C3-C686-6D6B-8780-962E76E02AC6}"/>
          </ac:spMkLst>
        </pc:spChg>
        <pc:spChg chg="add mod">
          <ac:chgData name="Yogesh Raje" userId="S::yogesh@edunetfoundation.org::9e0ba697-e1dc-452b-989f-11655901edb1" providerId="AD" clId="Web-{C5591CF7-6E22-14BF-DB99-3894772A19DF}" dt="2026-04-21T05:09:24.561" v="41" actId="20577"/>
          <ac:spMkLst>
            <pc:docMk/>
            <pc:sldMk cId="2115484872" sldId="277"/>
            <ac:spMk id="5" creationId="{1BD576A0-BF64-32B6-1E59-49AA2C59C5CE}"/>
          </ac:spMkLst>
        </pc:spChg>
        <pc:spChg chg="mod">
          <ac:chgData name="Yogesh Raje" userId="S::yogesh@edunetfoundation.org::9e0ba697-e1dc-452b-989f-11655901edb1" providerId="AD" clId="Web-{C5591CF7-6E22-14BF-DB99-3894772A19DF}" dt="2026-04-21T05:09:31.452" v="42" actId="1076"/>
          <ac:spMkLst>
            <pc:docMk/>
            <pc:sldMk cId="2115484872" sldId="277"/>
            <ac:spMk id="278" creationId="{D62F03A8-A8A8-CB93-006E-7173DC866F6F}"/>
          </ac:spMkLst>
        </pc:spChg>
        <pc:spChg chg="del">
          <ac:chgData name="Yogesh Raje" userId="S::yogesh@edunetfoundation.org::9e0ba697-e1dc-452b-989f-11655901edb1" providerId="AD" clId="Web-{C5591CF7-6E22-14BF-DB99-3894772A19DF}" dt="2026-04-21T05:03:31.415" v="7"/>
          <ac:spMkLst>
            <pc:docMk/>
            <pc:sldMk cId="2115484872" sldId="277"/>
            <ac:spMk id="279" creationId="{15507A2F-9304-7475-5C74-2BAA93879CFE}"/>
          </ac:spMkLst>
        </pc:spChg>
        <pc:picChg chg="add mod">
          <ac:chgData name="Yogesh Raje" userId="S::yogesh@edunetfoundation.org::9e0ba697-e1dc-452b-989f-11655901edb1" providerId="AD" clId="Web-{C5591CF7-6E22-14BF-DB99-3894772A19DF}" dt="2026-04-21T05:07:37.669" v="13" actId="14100"/>
          <ac:picMkLst>
            <pc:docMk/>
            <pc:sldMk cId="2115484872" sldId="277"/>
            <ac:picMk id="2" creationId="{E9DB3200-E2EC-A058-B02D-E1510060484E}"/>
          </ac:picMkLst>
        </pc:picChg>
        <pc:picChg chg="add mod">
          <ac:chgData name="Yogesh Raje" userId="S::yogesh@edunetfoundation.org::9e0ba697-e1dc-452b-989f-11655901edb1" providerId="AD" clId="Web-{C5591CF7-6E22-14BF-DB99-3894772A19DF}" dt="2026-04-21T05:08:10.982" v="17" actId="14100"/>
          <ac:picMkLst>
            <pc:docMk/>
            <pc:sldMk cId="2115484872" sldId="277"/>
            <ac:picMk id="3" creationId="{03614573-D426-9337-9C0E-5207B9123920}"/>
          </ac:picMkLst>
        </pc:picChg>
      </pc:sldChg>
      <pc:sldChg chg="ord">
        <pc:chgData name="Yogesh Raje" userId="S::yogesh@edunetfoundation.org::9e0ba697-e1dc-452b-989f-11655901edb1" providerId="AD" clId="Web-{C5591CF7-6E22-14BF-DB99-3894772A19DF}" dt="2026-04-21T05:03:33.884" v="8"/>
        <pc:sldMkLst>
          <pc:docMk/>
          <pc:sldMk cId="917964102" sldId="286"/>
        </pc:sldMkLst>
      </pc:sldChg>
      <pc:sldChg chg="new del">
        <pc:chgData name="Yogesh Raje" userId="S::yogesh@edunetfoundation.org::9e0ba697-e1dc-452b-989f-11655901edb1" providerId="AD" clId="Web-{C5591CF7-6E22-14BF-DB99-3894772A19DF}" dt="2026-04-21T05:03:13.071" v="1"/>
        <pc:sldMkLst>
          <pc:docMk/>
          <pc:sldMk cId="19189734" sldId="287"/>
        </pc:sldMkLst>
      </pc:sldChg>
      <pc:sldChg chg="add replId">
        <pc:chgData name="Yogesh Raje" userId="S::yogesh@edunetfoundation.org::9e0ba697-e1dc-452b-989f-11655901edb1" providerId="AD" clId="Web-{C5591CF7-6E22-14BF-DB99-3894772A19DF}" dt="2026-04-21T05:03:16.368" v="2"/>
        <pc:sldMkLst>
          <pc:docMk/>
          <pc:sldMk cId="2605851928" sldId="28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9651753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0575871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0520786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221693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403079753"/>
              </p:ext>
            </p:extLst>
          </p:nvPr>
        </p:nvGraphicFramePr>
        <p:xfrm>
          <a:off x="521110" y="2600315"/>
          <a:ext cx="10839535" cy="3043401"/>
        </p:xfrm>
        <a:graphic>
          <a:graphicData uri="http://schemas.openxmlformats.org/drawingml/2006/table">
            <a:tbl>
              <a:tblPr>
                <a:noFill/>
                <a:tableStyleId>{0AAD8F4D-43EB-41E5-8A38-28AB6DFB1B60}</a:tableStyleId>
              </a:tblPr>
              <a:tblGrid>
                <a:gridCol w="2902288">
                  <a:extLst>
                    <a:ext uri="{9D8B030D-6E8A-4147-A177-3AD203B41FA5}">
                      <a16:colId xmlns:a16="http://schemas.microsoft.com/office/drawing/2014/main" val="20000"/>
                    </a:ext>
                  </a:extLst>
                </a:gridCol>
                <a:gridCol w="2645749">
                  <a:extLst>
                    <a:ext uri="{9D8B030D-6E8A-4147-A177-3AD203B41FA5}">
                      <a16:colId xmlns:a16="http://schemas.microsoft.com/office/drawing/2014/main" val="20002"/>
                    </a:ext>
                  </a:extLst>
                </a:gridCol>
                <a:gridCol w="2645749">
                  <a:extLst>
                    <a:ext uri="{9D8B030D-6E8A-4147-A177-3AD203B41FA5}">
                      <a16:colId xmlns:a16="http://schemas.microsoft.com/office/drawing/2014/main" val="20003"/>
                    </a:ext>
                  </a:extLst>
                </a:gridCol>
                <a:gridCol w="2645749">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2070164">
                <a:tc>
                  <a:txBody>
                    <a:bodyPr/>
                    <a:lstStyle/>
                    <a:p>
                      <a:pPr marL="0" marR="0" lvl="0" indent="0" algn="ctr" rtl="0">
                        <a:spcBef>
                          <a:spcPts val="0"/>
                        </a:spcBef>
                        <a:spcAft>
                          <a:spcPts val="0"/>
                        </a:spcAft>
                        <a:buNone/>
                      </a:pPr>
                      <a:r>
                        <a:rPr lang="en-US" dirty="0"/>
                        <a:t>Dr. Shubham Atmaram Narawade</a:t>
                      </a:r>
                      <a:endParaRPr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US" dirty="0"/>
                        <a:t>shubhamn2606@gmail.com</a:t>
                      </a:r>
                      <a:endParaRPr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US" dirty="0"/>
                        <a:t>9158584584</a:t>
                      </a:r>
                      <a:endParaRPr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000" b="1" dirty="0"/>
              <a:t>Healthcare </a:t>
            </a:r>
            <a:endParaRPr lang="en-IN" sz="2000" b="1" dirty="0"/>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IN" sz="2000" b="1" dirty="0"/>
              <a:t>Agentic AI for Mental Health Awareness &amp; Suicide Prevention</a:t>
            </a:r>
          </a:p>
        </p:txBody>
      </p:sp>
      <p:pic>
        <p:nvPicPr>
          <p:cNvPr id="3" name="Picture 2">
            <a:extLst>
              <a:ext uri="{FF2B5EF4-FFF2-40B4-BE49-F238E27FC236}">
                <a16:creationId xmlns:a16="http://schemas.microsoft.com/office/drawing/2014/main" id="{5EF86352-F20B-DD9C-1AF4-3D47B2DD8F21}"/>
              </a:ext>
            </a:extLst>
          </p:cNvPr>
          <p:cNvPicPr>
            <a:picLocks noChangeAspect="1"/>
          </p:cNvPicPr>
          <p:nvPr/>
        </p:nvPicPr>
        <p:blipFill>
          <a:blip r:embed="rId3"/>
          <a:stretch>
            <a:fillRect/>
          </a:stretch>
        </p:blipFill>
        <p:spPr>
          <a:xfrm>
            <a:off x="4158898" y="3799628"/>
            <a:ext cx="1258824" cy="161848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4401205"/>
          </a:xfrm>
          <a:prstGeom prst="rect">
            <a:avLst/>
          </a:prstGeom>
          <a:noFill/>
        </p:spPr>
        <p:txBody>
          <a:bodyPr wrap="square" rtlCol="0">
            <a:spAutoFit/>
          </a:bodyPr>
          <a:lstStyle/>
          <a:p>
            <a:pPr algn="just" fontAlgn="base"/>
            <a:r>
              <a:rPr lang="en-US" b="1" dirty="0"/>
              <a:t>Problem Statement : </a:t>
            </a:r>
            <a:r>
              <a:rPr lang="en-IN" b="1" dirty="0"/>
              <a:t>Agentic AI for Mental Health Awareness &amp; Suicide Prevention</a:t>
            </a:r>
            <a:endParaRPr lang="en-US" dirty="0"/>
          </a:p>
          <a:p>
            <a:pPr algn="just" fontAlgn="base"/>
            <a:endParaRPr lang="en-US" b="1" dirty="0"/>
          </a:p>
          <a:p>
            <a:pPr algn="just"/>
            <a:r>
              <a:rPr lang="en-IN" b="1" dirty="0"/>
              <a:t>The Challenge</a:t>
            </a:r>
            <a:endParaRPr lang="en-IN" dirty="0"/>
          </a:p>
          <a:p>
            <a:pPr algn="just"/>
            <a:r>
              <a:rPr lang="en-IN" dirty="0"/>
              <a:t>Mental health issues such as depression, anxiety, and suicidal thoughts are growing worldwide. Stigma, lack of awareness, and limited access to timely help prevent many individuals from seeking support. Traditional systems are often reactive, leaving gaps in early detection and preventive care.</a:t>
            </a:r>
          </a:p>
          <a:p>
            <a:pPr algn="just"/>
            <a:r>
              <a:rPr lang="en-IN" b="1" dirty="0"/>
              <a:t>The Objective</a:t>
            </a:r>
            <a:endParaRPr lang="en-IN" dirty="0"/>
          </a:p>
          <a:p>
            <a:pPr algn="just"/>
            <a:r>
              <a:rPr lang="en-IN" dirty="0"/>
              <a:t>Build an Agentic AI-powered Mental Health Awareness &amp; Suicide Prevention Agent that is empathetic, proactive, and safe. The solution should:</a:t>
            </a:r>
          </a:p>
          <a:p>
            <a:pPr lvl="0" algn="just"/>
            <a:r>
              <a:rPr lang="en-IN" b="1" dirty="0"/>
              <a:t>Promote Awareness &amp; Education </a:t>
            </a:r>
            <a:r>
              <a:rPr lang="en-IN" dirty="0"/>
              <a:t>– Share accessible resources on mindfulness, coping strategies, and self-care.</a:t>
            </a:r>
          </a:p>
          <a:p>
            <a:pPr lvl="0" algn="just"/>
            <a:r>
              <a:rPr lang="en-IN" b="1" dirty="0"/>
              <a:t>Enable Early Detection (RAG) </a:t>
            </a:r>
            <a:r>
              <a:rPr lang="en-IN" dirty="0"/>
              <a:t>– Use Retrieval-Augmented Generation to identify distress signals in conversations, journaling inputs, or safe online data.</a:t>
            </a:r>
          </a:p>
          <a:p>
            <a:pPr lvl="0" algn="just"/>
            <a:r>
              <a:rPr lang="en-IN" b="1" dirty="0"/>
              <a:t>Provide Empathetic Support – </a:t>
            </a:r>
            <a:r>
              <a:rPr lang="en-IN" dirty="0"/>
              <a:t>Build a conversational agent that listens actively and responds with empathy (with clear disclaimers: not a substitute for professional medical advice).</a:t>
            </a:r>
          </a:p>
          <a:p>
            <a:pPr lvl="0" algn="just"/>
            <a:r>
              <a:rPr lang="en-IN" b="1" dirty="0"/>
              <a:t>Predict &amp; Prevent Risks – </a:t>
            </a:r>
            <a:r>
              <a:rPr lang="en-IN" dirty="0"/>
              <a:t>Forecast stress peaks, suggest preventive strategies, and issue alerts when high-risk signals are detected (with consent).</a:t>
            </a:r>
          </a:p>
          <a:p>
            <a:pPr lvl="0" algn="just"/>
            <a:r>
              <a:rPr lang="en-IN" b="1" dirty="0"/>
              <a:t>Connect to Human Support – </a:t>
            </a:r>
            <a:r>
              <a:rPr lang="en-IN" dirty="0"/>
              <a:t>Link users to helplines, </a:t>
            </a:r>
            <a:r>
              <a:rPr lang="en-IN" dirty="0" err="1"/>
              <a:t>counselors</a:t>
            </a:r>
            <a:r>
              <a:rPr lang="en-IN" dirty="0"/>
              <a:t>, or community support for timely intervention.</a:t>
            </a:r>
          </a:p>
          <a:p>
            <a:pPr algn="just"/>
            <a:r>
              <a:rPr lang="en-IN" b="1" dirty="0"/>
              <a:t>Tech Stack (Mandatory)</a:t>
            </a:r>
            <a:endParaRPr lang="en-IN" dirty="0"/>
          </a:p>
          <a:p>
            <a:pPr lvl="0" algn="just"/>
            <a:r>
              <a:rPr lang="en-IN" dirty="0"/>
              <a:t>LangFlow + IBM watsonx.ai + IBM Granite Models</a:t>
            </a:r>
            <a:endParaRPr lang="en-US" dirty="0"/>
          </a:p>
          <a:p>
            <a:pPr algn="just"/>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67512" y="1165753"/>
            <a:ext cx="10607040" cy="2893100"/>
          </a:xfrm>
          <a:prstGeom prst="rect">
            <a:avLst/>
          </a:prstGeom>
          <a:noFill/>
        </p:spPr>
        <p:txBody>
          <a:bodyPr wrap="square" rtlCol="0">
            <a:spAutoFit/>
          </a:bodyPr>
          <a:lstStyle/>
          <a:p>
            <a:pPr fontAlgn="base"/>
            <a:endParaRPr lang="en-US" b="1" dirty="0"/>
          </a:p>
          <a:p>
            <a:pPr fontAlgn="base"/>
            <a:r>
              <a:rPr lang="en-IN" b="1" dirty="0"/>
              <a:t>Tech Stack (Mandatory)</a:t>
            </a:r>
            <a:r>
              <a:rPr lang="en-IN" dirty="0"/>
              <a:t> </a:t>
            </a:r>
          </a:p>
          <a:p>
            <a:pPr fontAlgn="base"/>
            <a:r>
              <a:rPr lang="en-IN" dirty="0"/>
              <a:t>Use </a:t>
            </a:r>
            <a:r>
              <a:rPr lang="en-IN" b="1" dirty="0"/>
              <a:t>any one</a:t>
            </a:r>
            <a:r>
              <a:rPr lang="en-IN" dirty="0"/>
              <a:t> of the following approaches: </a:t>
            </a:r>
          </a:p>
          <a:p>
            <a:pPr marL="285750" indent="-285750" fontAlgn="base">
              <a:buFont typeface="Arial" panose="020B0604020202020204" pitchFamily="34" charset="0"/>
              <a:buChar char="•"/>
            </a:pPr>
            <a:r>
              <a:rPr lang="en-IN" dirty="0"/>
              <a:t>LangFlow + IBM watsonx.ai + Granite Models </a:t>
            </a:r>
          </a:p>
          <a:p>
            <a:pPr marL="285750" indent="-285750" fontAlgn="base">
              <a:buFont typeface="Arial" panose="020B0604020202020204" pitchFamily="34" charset="0"/>
              <a:buChar char="•"/>
            </a:pPr>
            <a:r>
              <a:rPr lang="en-IN" dirty="0"/>
              <a:t>IBM Cloud Agentic Lab with IBM Granite Models </a:t>
            </a:r>
          </a:p>
          <a:p>
            <a:pPr marL="285750" indent="-285750" fontAlgn="base">
              <a:buFont typeface="Arial" panose="020B0604020202020204" pitchFamily="34" charset="0"/>
              <a:buChar char="•"/>
            </a:pPr>
            <a:r>
              <a:rPr lang="en-IN" dirty="0"/>
              <a:t>Replicate with </a:t>
            </a:r>
            <a:r>
              <a:rPr lang="en-IN" dirty="0" err="1"/>
              <a:t>LangChain</a:t>
            </a:r>
            <a:r>
              <a:rPr lang="en-IN" dirty="0"/>
              <a:t> + RAG + IBM Granite Models</a:t>
            </a:r>
          </a:p>
          <a:p>
            <a:pPr marL="285750" indent="-285750" fontAlgn="base">
              <a:buFont typeface="Arial" panose="020B0604020202020204" pitchFamily="34" charset="0"/>
              <a:buChar char="•"/>
            </a:pPr>
            <a:endParaRPr lang="en-IN" dirty="0"/>
          </a:p>
          <a:p>
            <a:pPr fontAlgn="base"/>
            <a:r>
              <a:rPr lang="en-IN" dirty="0"/>
              <a:t>I used </a:t>
            </a:r>
            <a:r>
              <a:rPr lang="en-IN" dirty="0">
                <a:highlight>
                  <a:srgbClr val="FFFF00"/>
                </a:highlight>
              </a:rPr>
              <a:t>LangFlow + IBM watsonx.ai + Granite Models </a:t>
            </a:r>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155784"/>
            <a:ext cx="10607040" cy="5047536"/>
          </a:xfrm>
          <a:prstGeom prst="rect">
            <a:avLst/>
          </a:prstGeom>
          <a:noFill/>
        </p:spPr>
        <p:txBody>
          <a:bodyPr wrap="square" rtlCol="0">
            <a:spAutoFit/>
          </a:bodyPr>
          <a:lstStyle/>
          <a:p>
            <a:pPr algn="just" fontAlgn="base"/>
            <a:endParaRPr lang="en-US" b="1" dirty="0"/>
          </a:p>
          <a:p>
            <a:pPr algn="just"/>
            <a:r>
              <a:rPr lang="en-US" b="1" dirty="0"/>
              <a:t>Proposed Solution: </a:t>
            </a:r>
            <a:r>
              <a:rPr lang="en-IN" b="1" dirty="0"/>
              <a:t>Mind Guard Support Agent</a:t>
            </a:r>
            <a:endParaRPr lang="en-US" b="1" dirty="0"/>
          </a:p>
          <a:p>
            <a:pPr algn="just"/>
            <a:r>
              <a:rPr lang="en-IN" dirty="0"/>
              <a:t>The proposed solution is a AI-powered Mental Health Agent built using </a:t>
            </a:r>
            <a:r>
              <a:rPr lang="en-IN" b="1" dirty="0"/>
              <a:t>LangFlow, IBM watsonx.ai and Granite Models</a:t>
            </a:r>
            <a:r>
              <a:rPr lang="en-IN" dirty="0"/>
              <a:t> to provide personalized emotional support, mental health awareness and suicide prevention guidance. The system addresses challenges in mental health monitoring, emotional well-being support, and early crisis detection through an intelligent, modular architecture. At its core, the solution uses a </a:t>
            </a:r>
            <a:r>
              <a:rPr lang="en-IN" b="1" dirty="0"/>
              <a:t>LangFlow pipeline</a:t>
            </a:r>
            <a:r>
              <a:rPr lang="en-IN" dirty="0"/>
              <a:t> to fetch accurate mental health information from trusted sources such as WHO guidelines and psychological research datasets. This data is embedded and stored in a vector database, enabling the system to retrieve and summarize mental health insights such as stress management techniques, anxiety coping strategies, emotional regulation methods, and crisis warning signs using Granite models.</a:t>
            </a:r>
          </a:p>
          <a:p>
            <a:pPr algn="just"/>
            <a:r>
              <a:rPr lang="en-IN" dirty="0"/>
              <a:t>The system consists of four key agents:</a:t>
            </a:r>
          </a:p>
          <a:p>
            <a:pPr marL="285750" indent="-285750" algn="just">
              <a:buFont typeface="Arial" panose="020B0604020202020204" pitchFamily="34" charset="0"/>
              <a:buChar char="•"/>
            </a:pPr>
            <a:r>
              <a:rPr lang="en-IN" b="1" dirty="0"/>
              <a:t>Mental Health Knowledge Agent</a:t>
            </a:r>
            <a:r>
              <a:rPr lang="en-IN" dirty="0"/>
              <a:t> retrieves and summarizes mental health information using AI.</a:t>
            </a:r>
          </a:p>
          <a:p>
            <a:pPr marL="285750" indent="-285750" algn="just">
              <a:buFont typeface="Arial" panose="020B0604020202020204" pitchFamily="34" charset="0"/>
              <a:buChar char="•"/>
            </a:pPr>
            <a:r>
              <a:rPr lang="en-IN" b="1" dirty="0"/>
              <a:t>Mind Guard Support Agent</a:t>
            </a:r>
            <a:r>
              <a:rPr lang="en-IN" dirty="0"/>
              <a:t> provides personalized emotional support through conversation, mood reflection and journaling-based interaction to help users understand and manage their emotional state.</a:t>
            </a:r>
          </a:p>
          <a:p>
            <a:pPr marL="285750" indent="-285750" algn="just">
              <a:buFont typeface="Arial" panose="020B0604020202020204" pitchFamily="34" charset="0"/>
              <a:buChar char="•"/>
            </a:pPr>
            <a:r>
              <a:rPr lang="en-IN" b="1" dirty="0"/>
              <a:t>Wellness Recommendation Agent</a:t>
            </a:r>
            <a:r>
              <a:rPr lang="en-IN" dirty="0"/>
              <a:t> generates personalized mental wellness plans based on user inputs such as lifestyle, stress levels, sleep patterns and emotional condition.</a:t>
            </a:r>
          </a:p>
          <a:p>
            <a:pPr marL="285750" indent="-285750" algn="just">
              <a:buFont typeface="Arial" panose="020B0604020202020204" pitchFamily="34" charset="0"/>
              <a:buChar char="•"/>
            </a:pPr>
            <a:r>
              <a:rPr lang="en-IN" b="1" dirty="0"/>
              <a:t>Crisis Detection &amp; Safety Agent</a:t>
            </a:r>
            <a:r>
              <a:rPr lang="en-IN" dirty="0"/>
              <a:t> identifies signs of severe distress or suicidal ideation and provides immediate safe responses, encouraging users to seek human support and guiding them toward appropriate crisis resources when required.</a:t>
            </a:r>
          </a:p>
          <a:p>
            <a:pPr algn="just"/>
            <a:r>
              <a:rPr lang="en-IN" dirty="0"/>
              <a:t>The solution includes a user-friendly dashboard that visualizes mood trends, emotional patterns and mental wellness progress over time. It also provides daily check-ins, coping strategy suggestions, mindfulness exercises, and emotional health insights.</a:t>
            </a:r>
          </a:p>
          <a:p>
            <a:pPr algn="just"/>
            <a:r>
              <a:rPr lang="en-IN" dirty="0"/>
              <a:t>LangFlow is used to orchestrate agent workflows, while watsonx.ai ensures scalable model deployment, embeddings and AI governance. Granite models power reasoning, empathetic response generation, summarization and personalization.</a:t>
            </a:r>
          </a:p>
          <a:p>
            <a:pPr algn="just"/>
            <a:r>
              <a:rPr lang="en-IN" dirty="0"/>
              <a:t>Overall, this solution delivers an end-to-end intelligent mental health assistant that promotes emotional well-being through awareness, personalized support, early risk detection and safe crisis intervention guidance.</a:t>
            </a:r>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635264"/>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9052636" cy="2462213"/>
          </a:xfrm>
          <a:prstGeom prst="rect">
            <a:avLst/>
          </a:prstGeom>
          <a:noFill/>
        </p:spPr>
        <p:txBody>
          <a:bodyPr wrap="square" rtlCol="0">
            <a:spAutoFit/>
          </a:bodyPr>
          <a:lstStyle/>
          <a:p>
            <a:pPr algn="just"/>
            <a:endParaRPr lang="en-US" dirty="0"/>
          </a:p>
          <a:p>
            <a:pPr algn="just"/>
            <a:r>
              <a:rPr lang="en-US" b="1" dirty="0"/>
              <a:t>1) Chat Input </a:t>
            </a:r>
            <a:r>
              <a:rPr lang="en-US" dirty="0"/>
              <a:t>– Interface where users enter their queries, preferences, or meal details (text/voice/image).</a:t>
            </a:r>
          </a:p>
          <a:p>
            <a:pPr algn="just"/>
            <a:endParaRPr lang="en-US" dirty="0"/>
          </a:p>
          <a:p>
            <a:pPr algn="just"/>
            <a:r>
              <a:rPr lang="en-US" b="1" dirty="0"/>
              <a:t>2) IBM </a:t>
            </a:r>
            <a:r>
              <a:rPr lang="en-US" b="1" dirty="0" err="1"/>
              <a:t>watsonx</a:t>
            </a:r>
            <a:r>
              <a:rPr lang="en-US" b="1" dirty="0"/>
              <a:t> AI Agent </a:t>
            </a:r>
            <a:r>
              <a:rPr lang="en-US" dirty="0"/>
              <a:t>- Processes user input using Granite models to generate personalized nutrition insights and recommendations. </a:t>
            </a:r>
          </a:p>
          <a:p>
            <a:pPr algn="just"/>
            <a:endParaRPr lang="en-US" dirty="0"/>
          </a:p>
          <a:p>
            <a:pPr algn="just"/>
            <a:r>
              <a:rPr lang="en-US" b="1" dirty="0"/>
              <a:t>3) Name of IBM Granite model – </a:t>
            </a:r>
            <a:r>
              <a:rPr lang="en-US" dirty="0"/>
              <a:t>Meta-llama/llama-3-3-70b → Fast, efficient for real-time diet recommendations</a:t>
            </a:r>
          </a:p>
          <a:p>
            <a:pPr algn="just"/>
            <a:endParaRPr lang="en-US" dirty="0"/>
          </a:p>
          <a:p>
            <a:pPr algn="just"/>
            <a:r>
              <a:rPr lang="en-US" b="1" dirty="0"/>
              <a:t>4) Chat output -</a:t>
            </a:r>
            <a:r>
              <a:rPr lang="en-US" dirty="0"/>
              <a:t>Displays AI-generated responses such as diet plans, nutritional analysis, and health suggestions. </a:t>
            </a:r>
          </a:p>
          <a:p>
            <a:pPr algn="just"/>
            <a:endParaRPr lang="en-US"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pic>
        <p:nvPicPr>
          <p:cNvPr id="5" name="Picture 4">
            <a:extLst>
              <a:ext uri="{FF2B5EF4-FFF2-40B4-BE49-F238E27FC236}">
                <a16:creationId xmlns:a16="http://schemas.microsoft.com/office/drawing/2014/main" id="{3E760838-F705-3347-1942-F00BD74F53AA}"/>
              </a:ext>
            </a:extLst>
          </p:cNvPr>
          <p:cNvPicPr>
            <a:picLocks noChangeAspect="1"/>
          </p:cNvPicPr>
          <p:nvPr/>
        </p:nvPicPr>
        <p:blipFill>
          <a:blip r:embed="rId3"/>
          <a:srcRect/>
          <a:stretch/>
        </p:blipFill>
        <p:spPr>
          <a:xfrm>
            <a:off x="767806" y="1101214"/>
            <a:ext cx="10715381" cy="5433547"/>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178" name="Google Shape;178;p7"/>
          <p:cNvPicPr preferRelativeResize="0"/>
          <p:nvPr/>
        </p:nvPicPr>
        <p:blipFill rotWithShape="1">
          <a:blip r:embed="rId3">
            <a:alphaModFix/>
          </a:blip>
          <a:srcRect/>
          <a:stretch/>
        </p:blipFill>
        <p:spPr>
          <a:xfrm>
            <a:off x="699152" y="1071448"/>
            <a:ext cx="10429095" cy="5612816"/>
          </a:xfrm>
          <a:prstGeom prst="rect">
            <a:avLst/>
          </a:prstGeom>
          <a:noFill/>
          <a:ln>
            <a:noFill/>
          </a:ln>
        </p:spPr>
      </p:pic>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4616648"/>
          </a:xfrm>
          <a:prstGeom prst="rect">
            <a:avLst/>
          </a:prstGeom>
          <a:noFill/>
        </p:spPr>
        <p:txBody>
          <a:bodyPr wrap="square" rtlCol="0">
            <a:spAutoFit/>
          </a:bodyPr>
          <a:lstStyle/>
          <a:p>
            <a:r>
              <a:rPr lang="en-IN" b="1" dirty="0"/>
              <a:t>Role of Agentic AI in Mind Guard Support Agent</a:t>
            </a:r>
          </a:p>
          <a:p>
            <a:pPr algn="just"/>
            <a:r>
              <a:rPr lang="en-IN" dirty="0"/>
              <a:t>Agentic AI enables the Mind Guard Support Agent to operate as an intelligent, proactive support system rather than a simple conversational chatbot. Using IBM watsonx.ai and IBM Granite models, it coordinates multiple specialized agents to provide mental health awareness, emotional support, risk assessment, and crisis intervention guidance. Each agent is responsible for a specific task such as </a:t>
            </a:r>
            <a:r>
              <a:rPr lang="en-IN" dirty="0" err="1"/>
              <a:t>analyzing</a:t>
            </a:r>
            <a:r>
              <a:rPr lang="en-IN" dirty="0"/>
              <a:t> emotional sentiment, identifying signs of stress, anxiety, depression, or suicide risk, delivering mental health education, recommending coping strategies, and connecting users with appropriate support resources.</a:t>
            </a:r>
          </a:p>
          <a:p>
            <a:r>
              <a:rPr lang="en-IN" dirty="0"/>
              <a:t>This multi-agent architecture ensures efficient task execution, accurate insights, and timely responses. Agentic AI brings strong context awareness by understanding user conversations, emotional patterns, personal challenges, and well-being goals, enabling highly personalized interactions. The system continuously adapts to real-time user inputs, monitoring changes in mood, </a:t>
            </a:r>
            <a:r>
              <a:rPr lang="en-IN" dirty="0" err="1"/>
              <a:t>behavior</a:t>
            </a:r>
            <a:r>
              <a:rPr lang="en-IN" dirty="0"/>
              <a:t>, or emotional state and adjusting recommendations accordingly. Agents collaborate and share information to improve decision-making, allowing the platform to provide comprehensive support while prioritizing user safety. In situations where signs of emotional distress or potential self-harm are detected, the agents work together to assess risk levels, encourage help-seeking </a:t>
            </a:r>
            <a:r>
              <a:rPr lang="en-IN" dirty="0" err="1"/>
              <a:t>behavior</a:t>
            </a:r>
            <a:r>
              <a:rPr lang="en-IN" dirty="0"/>
              <a:t>, and guide users toward professional mental health services, crisis helplines, or trusted support networks. Overall, Agentic AI makes the Mind Guard Support Agent proactive, empathetic, personalized, and goal-driven, functioning as a smart digital mental health companion that promotes emotional well-being, mental health awareness, and suicide prevention.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678204"/>
          </a:xfrm>
          <a:prstGeom prst="rect">
            <a:avLst/>
          </a:prstGeom>
          <a:noFill/>
        </p:spPr>
        <p:txBody>
          <a:bodyPr wrap="square" rtlCol="0">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a:t>– 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nutritional data retrieval</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dirty="0">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1 CUH used</a:t>
            </a:r>
          </a:p>
        </p:txBody>
      </p:sp>
      <p:pic>
        <p:nvPicPr>
          <p:cNvPr id="6" name="Picture 5">
            <a:extLst>
              <a:ext uri="{FF2B5EF4-FFF2-40B4-BE49-F238E27FC236}">
                <a16:creationId xmlns:a16="http://schemas.microsoft.com/office/drawing/2014/main" id="{B0482D2A-BD8E-232B-A8B2-591D7D6CBF9D}"/>
              </a:ext>
            </a:extLst>
          </p:cNvPr>
          <p:cNvPicPr>
            <a:picLocks noChangeAspect="1"/>
          </p:cNvPicPr>
          <p:nvPr/>
        </p:nvPicPr>
        <p:blipFill>
          <a:blip r:embed="rId3"/>
          <a:stretch>
            <a:fillRect/>
          </a:stretch>
        </p:blipFill>
        <p:spPr>
          <a:xfrm>
            <a:off x="741741" y="1458018"/>
            <a:ext cx="10552867" cy="4739611"/>
          </a:xfrm>
          <a:prstGeom prst="rect">
            <a:avLst/>
          </a:prstGeom>
        </p:spPr>
      </p:pic>
    </p:spTree>
    <p:extLst>
      <p:ext uri="{BB962C8B-B14F-4D97-AF65-F5344CB8AC3E}">
        <p14:creationId xmlns:p14="http://schemas.microsoft.com/office/powerpoint/2010/main" val="21154848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482272" y="1236505"/>
            <a:ext cx="11301984" cy="3539430"/>
          </a:xfrm>
          <a:prstGeom prst="rect">
            <a:avLst/>
          </a:prstGeom>
          <a:noFill/>
        </p:spPr>
        <p:txBody>
          <a:bodyPr wrap="square" rtlCol="0">
            <a:spAutoFit/>
          </a:bodyPr>
          <a:lstStyle/>
          <a:p>
            <a:pPr algn="just"/>
            <a:r>
              <a:rPr lang="en-IN" dirty="0"/>
              <a:t>The proposed Mind Guard Support Agent stands out by combining </a:t>
            </a:r>
            <a:r>
              <a:rPr lang="en-IN" b="1" dirty="0"/>
              <a:t>Agentic AI, RAG, and personalization</a:t>
            </a:r>
            <a:r>
              <a:rPr lang="en-IN" dirty="0"/>
              <a:t> into a single intelligent mental health support system.</a:t>
            </a:r>
          </a:p>
          <a:p>
            <a:pPr algn="just"/>
            <a:r>
              <a:rPr lang="en-IN" b="1" dirty="0"/>
              <a:t>Agentic Intelligence</a:t>
            </a:r>
            <a:r>
              <a:rPr lang="en-IN" dirty="0"/>
              <a:t> – Instead of a simple chatbot, the system works as an intelligent agent that understands user context and provides meaningful, empathetic, and situation-aware mental health support.</a:t>
            </a:r>
          </a:p>
          <a:p>
            <a:pPr algn="just"/>
            <a:r>
              <a:rPr lang="en-IN" b="1" dirty="0"/>
              <a:t>RAG-Based Accuracy</a:t>
            </a:r>
            <a:r>
              <a:rPr lang="en-IN" dirty="0"/>
              <a:t> – Integrates real-time retrieval of trusted mental health resources with AI generation, reducing misinformation and ensuring safe, evidence-based responses aligned with psychological guidelines.</a:t>
            </a:r>
          </a:p>
          <a:p>
            <a:pPr algn="just"/>
            <a:r>
              <a:rPr lang="en-IN" b="1" dirty="0"/>
              <a:t>Hyper-Personalization</a:t>
            </a:r>
            <a:r>
              <a:rPr lang="en-IN" dirty="0"/>
              <a:t> – Tailors emotional support and wellness suggestions based on user mood, stress levels, lifestyle patterns, and conversational context.</a:t>
            </a:r>
          </a:p>
          <a:p>
            <a:pPr algn="just"/>
            <a:r>
              <a:rPr lang="en-IN" b="1" dirty="0"/>
              <a:t>Real-Time Feedback Adaptation</a:t>
            </a:r>
            <a:r>
              <a:rPr lang="en-IN" dirty="0"/>
              <a:t> – Continuously adjusts responses based on ongoing user interactions and emotional state changes to provide relevant and timely support.</a:t>
            </a:r>
          </a:p>
          <a:p>
            <a:pPr algn="just"/>
            <a:r>
              <a:rPr lang="en-IN" b="1" dirty="0"/>
              <a:t>Multi-Modal Input</a:t>
            </a:r>
            <a:r>
              <a:rPr lang="en-IN" dirty="0"/>
              <a:t> – Supports text, voice, and optional image-based inputs for expressing mood, journaling, and emotional check-ins, improving accessibility and engagement.</a:t>
            </a:r>
          </a:p>
          <a:p>
            <a:pPr algn="just"/>
            <a:r>
              <a:rPr lang="en-IN" b="1" dirty="0"/>
              <a:t>Preventive Mental Health Focus</a:t>
            </a:r>
            <a:r>
              <a:rPr lang="en-IN" dirty="0"/>
              <a:t> – Goes beyond conversation by identifying early signs of stress, anxiety, or emotional distress and providing coping strategies and preventive guidance.</a:t>
            </a:r>
          </a:p>
          <a:p>
            <a:pPr algn="just"/>
            <a:r>
              <a:rPr lang="en-IN" b="1" dirty="0"/>
              <a:t>Scalable &amp; AI-Driven Architecture</a:t>
            </a:r>
            <a:r>
              <a:rPr lang="en-IN" dirty="0"/>
              <a:t> – Built using Gemini 1.5 Flash, ensuring fast response time, scalability, and reliable real-time conversational performance.</a:t>
            </a:r>
          </a:p>
        </p:txBody>
      </p:sp>
    </p:spTree>
    <p:extLst>
      <p:ext uri="{BB962C8B-B14F-4D97-AF65-F5344CB8AC3E}">
        <p14:creationId xmlns:p14="http://schemas.microsoft.com/office/powerpoint/2010/main" val="917964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442452" y="1153712"/>
            <a:ext cx="11287431" cy="4277001"/>
          </a:xfrm>
          <a:prstGeom prst="rect">
            <a:avLst/>
          </a:prstGeom>
          <a:noFill/>
          <a:ln>
            <a:noFill/>
          </a:ln>
        </p:spPr>
        <p:txBody>
          <a:bodyPr spcFirstLastPara="1" wrap="square" lIns="0" tIns="0" rIns="0" bIns="0" anchor="t" anchorCtr="0">
            <a:noAutofit/>
          </a:bodyPr>
          <a:lstStyle/>
          <a:p>
            <a:pPr marL="0" marR="0" lvl="0" indent="0" algn="just" rtl="0">
              <a:lnSpc>
                <a:spcPct val="162162"/>
              </a:lnSpc>
              <a:spcBef>
                <a:spcPts val="0"/>
              </a:spcBef>
              <a:spcAft>
                <a:spcPts val="0"/>
              </a:spcAft>
              <a:buClr>
                <a:srgbClr val="2B3541"/>
              </a:buClr>
              <a:buSzPts val="1850"/>
              <a:buFont typeface="Times New Roman"/>
              <a:buNone/>
            </a:pPr>
            <a:r>
              <a:rPr lang="en-US" sz="1850" b="1" i="0" u="none" strike="noStrike" cap="none" dirty="0">
                <a:solidFill>
                  <a:srgbClr val="2B3541"/>
                </a:solidFill>
                <a:latin typeface="+mn-lt"/>
                <a:ea typeface="Times New Roman"/>
                <a:cs typeface="Times New Roman"/>
                <a:sym typeface="Times New Roman"/>
              </a:rPr>
              <a:t>Please create public </a:t>
            </a:r>
            <a:r>
              <a:rPr lang="en-US" sz="1850" b="1" i="0" u="none" strike="noStrike" cap="none" dirty="0" err="1">
                <a:solidFill>
                  <a:srgbClr val="2B3541"/>
                </a:solidFill>
                <a:latin typeface="+mn-lt"/>
                <a:ea typeface="Times New Roman"/>
                <a:cs typeface="Times New Roman"/>
                <a:sym typeface="Times New Roman"/>
              </a:rPr>
              <a:t>github</a:t>
            </a:r>
            <a:r>
              <a:rPr lang="en-US" sz="1850" b="1" i="0" u="none" strike="noStrike" cap="none" dirty="0">
                <a:solidFill>
                  <a:srgbClr val="2B3541"/>
                </a:solidFill>
                <a:latin typeface="+mn-lt"/>
                <a:ea typeface="Times New Roman"/>
                <a:cs typeface="Times New Roman"/>
                <a:sym typeface="Times New Roman"/>
              </a:rPr>
              <a:t> repository (Enable Add README  button while creating repository) with format </a:t>
            </a:r>
            <a:r>
              <a:rPr lang="en-US" sz="1850" b="0" i="0" u="none" strike="noStrike" cap="none" dirty="0">
                <a:solidFill>
                  <a:srgbClr val="2B3541"/>
                </a:solidFill>
                <a:latin typeface="+mn-lt"/>
                <a:ea typeface="Times New Roman"/>
                <a:cs typeface="Times New Roman"/>
                <a:sym typeface="Times New Roman"/>
              </a:rPr>
              <a:t>– </a:t>
            </a:r>
          </a:p>
          <a:p>
            <a:pPr lvl="0">
              <a:lnSpc>
                <a:spcPct val="162162"/>
              </a:lnSpc>
              <a:buClr>
                <a:srgbClr val="2B3541"/>
              </a:buClr>
              <a:buSzPts val="1850"/>
            </a:pPr>
            <a:r>
              <a:rPr lang="en-US" sz="1850" dirty="0">
                <a:solidFill>
                  <a:srgbClr val="2B3541"/>
                </a:solidFill>
                <a:latin typeface="+mn-lt"/>
                <a:ea typeface="Times New Roman"/>
                <a:cs typeface="Times New Roman"/>
                <a:sym typeface="Times New Roman"/>
              </a:rPr>
              <a:t>Please test and Paste the working  </a:t>
            </a:r>
            <a:r>
              <a:rPr lang="en-US" sz="1850" dirty="0" err="1">
                <a:solidFill>
                  <a:srgbClr val="2B3541"/>
                </a:solidFill>
                <a:latin typeface="+mn-lt"/>
                <a:ea typeface="Times New Roman"/>
                <a:cs typeface="Times New Roman"/>
                <a:sym typeface="Times New Roman"/>
              </a:rPr>
              <a:t>Github</a:t>
            </a:r>
            <a:r>
              <a:rPr lang="en-US" sz="1850" dirty="0">
                <a:solidFill>
                  <a:srgbClr val="2B3541"/>
                </a:solidFill>
                <a:latin typeface="+mn-lt"/>
                <a:ea typeface="Times New Roman"/>
                <a:cs typeface="Times New Roman"/>
                <a:sym typeface="Times New Roman"/>
              </a:rPr>
              <a:t> URL – https://github.com/ShubhamShivNarawade/IBM-Project.git</a:t>
            </a:r>
          </a:p>
          <a:p>
            <a:pPr lvl="0">
              <a:lnSpc>
                <a:spcPct val="162162"/>
              </a:lnSpc>
              <a:buClr>
                <a:srgbClr val="2B3541"/>
              </a:buClr>
              <a:buSzPts val="1850"/>
            </a:pPr>
            <a:endParaRPr lang="en-US" sz="1850" b="1" dirty="0">
              <a:solidFill>
                <a:srgbClr val="2B3541"/>
              </a:solidFill>
              <a:latin typeface="+mn-lt"/>
              <a:ea typeface="Times New Roman"/>
              <a:cs typeface="Times New Roman"/>
              <a:sym typeface="Times New Roman"/>
            </a:endParaRPr>
          </a:p>
          <a:p>
            <a:pPr lvl="0">
              <a:lnSpc>
                <a:spcPct val="162162"/>
              </a:lnSpc>
              <a:buClr>
                <a:srgbClr val="2B3541"/>
              </a:buClr>
              <a:buSzPts val="1850"/>
            </a:pPr>
            <a:r>
              <a:rPr lang="en-US" sz="1850" b="1" dirty="0">
                <a:solidFill>
                  <a:srgbClr val="2B3541"/>
                </a:solidFill>
                <a:latin typeface="+mn-lt"/>
                <a:ea typeface="Times New Roman"/>
                <a:cs typeface="Times New Roman"/>
                <a:sym typeface="Times New Roman"/>
              </a:rPr>
              <a:t>Make sure you have Uploaded following three files into your </a:t>
            </a:r>
            <a:r>
              <a:rPr lang="en-US" sz="1850" b="1" dirty="0" err="1">
                <a:solidFill>
                  <a:srgbClr val="2B3541"/>
                </a:solidFill>
                <a:latin typeface="+mn-lt"/>
                <a:ea typeface="Times New Roman"/>
                <a:cs typeface="Times New Roman"/>
                <a:sym typeface="Times New Roman"/>
              </a:rPr>
              <a:t>github</a:t>
            </a:r>
            <a:r>
              <a:rPr lang="en-US" sz="1850" b="1" dirty="0">
                <a:solidFill>
                  <a:srgbClr val="2B3541"/>
                </a:solidFill>
                <a:latin typeface="+mn-lt"/>
                <a:ea typeface="Times New Roman"/>
                <a:cs typeface="Times New Roman"/>
                <a:sym typeface="Times New Roman"/>
              </a:rPr>
              <a:t> repository  </a:t>
            </a:r>
            <a:br>
              <a:rPr lang="en-US" sz="1850" dirty="0">
                <a:solidFill>
                  <a:srgbClr val="2B3541"/>
                </a:solidFill>
                <a:latin typeface="+mn-lt"/>
                <a:ea typeface="Times New Roman"/>
                <a:cs typeface="Times New Roman"/>
                <a:sym typeface="Times New Roman"/>
              </a:rPr>
            </a:br>
            <a:r>
              <a:rPr lang="en-US" sz="1850" dirty="0">
                <a:solidFill>
                  <a:srgbClr val="2B3541"/>
                </a:solidFill>
                <a:latin typeface="+mn-lt"/>
                <a:ea typeface="Times New Roman"/>
                <a:cs typeface="Times New Roman"/>
                <a:sym typeface="Times New Roman"/>
              </a:rPr>
              <a:t>1) </a:t>
            </a:r>
            <a:r>
              <a:rPr lang="en-US" sz="1850" dirty="0" err="1">
                <a:solidFill>
                  <a:srgbClr val="2B3541"/>
                </a:solidFill>
                <a:latin typeface="+mn-lt"/>
                <a:ea typeface="Times New Roman"/>
                <a:cs typeface="Times New Roman"/>
                <a:sym typeface="Times New Roman"/>
              </a:rPr>
              <a:t>app.json</a:t>
            </a:r>
            <a:r>
              <a:rPr lang="en-US" sz="1850" dirty="0">
                <a:solidFill>
                  <a:srgbClr val="2B3541"/>
                </a:solidFill>
                <a:latin typeface="+mn-lt"/>
                <a:ea typeface="Times New Roman"/>
                <a:cs typeface="Times New Roman"/>
                <a:sym typeface="Times New Roman"/>
              </a:rPr>
              <a:t> file , 2) yourproblemstatement.pdf file  3) your projectpresntation.pptx file 4) 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mn-lt"/>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707923" y="1221715"/>
            <a:ext cx="10186219" cy="4422001"/>
          </a:xfrm>
          <a:prstGeom prst="rect">
            <a:avLst/>
          </a:prstGeom>
          <a:noFill/>
          <a:ln>
            <a:noFill/>
          </a:ln>
        </p:spPr>
        <p:txBody>
          <a:bodyPr spcFirstLastPara="1" wrap="square" lIns="0" tIns="0" rIns="0" bIns="0" anchor="t" anchorCtr="0">
            <a:noAutofit/>
          </a:bodyPr>
          <a:lstStyle/>
          <a:p>
            <a:pPr algn="just"/>
            <a:r>
              <a:rPr lang="en-IN" b="1" dirty="0"/>
              <a:t>1. Integration with Wearables &amp; Health Monitoring Devices</a:t>
            </a:r>
          </a:p>
          <a:p>
            <a:pPr algn="just"/>
            <a:r>
              <a:rPr lang="en-IN" dirty="0"/>
              <a:t>The system can be integrated with smartwatches, fitness bands, and health monitoring devices to collect real-time wellness data such as heart rate, sleep quality, physical activity, and stress indicators. By </a:t>
            </a:r>
            <a:r>
              <a:rPr lang="en-IN" dirty="0" err="1"/>
              <a:t>analyzing</a:t>
            </a:r>
            <a:r>
              <a:rPr lang="en-IN" dirty="0"/>
              <a:t> these metrics alongside user interactions, the Mind Guard Support Agent can detect potential signs of mental distress, emotional burnout, or changes in well-being. This integration will enable more personalized mental health recommendations, early risk identification, and proactive support based on the user's overall physical and emotional state.</a:t>
            </a:r>
          </a:p>
          <a:p>
            <a:pPr algn="just"/>
            <a:r>
              <a:rPr lang="en-IN" b="1" dirty="0"/>
              <a:t>2. AI-Powered Voice Assistant &amp; Multilingual Support</a:t>
            </a:r>
          </a:p>
          <a:p>
            <a:pPr algn="just"/>
            <a:r>
              <a:rPr lang="en-IN" dirty="0"/>
              <a:t>Enhancing the platform with a voice-enabled AI assistant and multilingual capabilities will make mental health support more accessible and inclusive. Users will be able to communicate naturally through voice conversations in their preferred language, reducing barriers to seeking help. This feature can improve engagement for individuals who may find typing difficult or who are more comfortable expressing emotions verbally. Multilingual support will allow the system to reach diverse communities and provide culturally relevant mental health awareness and suicide prevention guidance.</a:t>
            </a:r>
          </a:p>
          <a:p>
            <a:pPr algn="just"/>
            <a:r>
              <a:rPr lang="en-IN" b="1" dirty="0"/>
              <a:t>3. Early Suicide Risk Prediction &amp; Crisis Intervention</a:t>
            </a:r>
          </a:p>
          <a:p>
            <a:pPr algn="just"/>
            <a:r>
              <a:rPr lang="en-IN" dirty="0"/>
              <a:t>Future versions can incorporate advanced predictive AI models that </a:t>
            </a:r>
            <a:r>
              <a:rPr lang="en-IN" dirty="0" err="1"/>
              <a:t>analyze</a:t>
            </a:r>
            <a:r>
              <a:rPr lang="en-IN" dirty="0"/>
              <a:t> </a:t>
            </a:r>
            <a:r>
              <a:rPr lang="en-IN" dirty="0" err="1"/>
              <a:t>behavioral</a:t>
            </a:r>
            <a:r>
              <a:rPr lang="en-IN" dirty="0"/>
              <a:t> patterns, emotional sentiment, and conversation history to identify early warning signs of self-harm or suicidal ideation. The system can then provide timely interventions, personalized coping strategies, and recommendations to contact trusted individuals, mental health professionals, or crisis support services when necessary, helping to improve safety and prevention outcomes.</a:t>
            </a:r>
          </a:p>
          <a:p>
            <a:pPr algn="just"/>
            <a:r>
              <a:rPr lang="en-IN" b="1" dirty="0"/>
              <a:t>4. Personalized Mental Wellness Programs</a:t>
            </a:r>
          </a:p>
          <a:p>
            <a:pPr algn="just"/>
            <a:r>
              <a:rPr lang="en-IN" dirty="0"/>
              <a:t>The Mind Guard Support Agent can offer customized wellness plans based on a user's emotional state, stress levels, and mental health goals. These programs may include mindfulness exercises, meditation sessions, breathing techniques, mood tracking, journaling activities, and cognitive </a:t>
            </a:r>
            <a:r>
              <a:rPr lang="en-IN" dirty="0" err="1"/>
              <a:t>behavioral</a:t>
            </a:r>
            <a:r>
              <a:rPr lang="en-IN" dirty="0"/>
              <a:t> therapy (CBT)-inspired exercises. Continuous adaptation based on user progress will help promote long-term emotional well-being and resilience.</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1466</TotalTime>
  <Words>1806</Words>
  <Application>Microsoft Office PowerPoint</Application>
  <PresentationFormat>Widescreen</PresentationFormat>
  <Paragraphs>112</Paragraphs>
  <Slides>15</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Shubham Narawade</cp:lastModifiedBy>
  <cp:revision>54</cp:revision>
  <dcterms:created xsi:type="dcterms:W3CDTF">2025-07-08T05:06:56Z</dcterms:created>
  <dcterms:modified xsi:type="dcterms:W3CDTF">2026-06-05T03:38:51Z</dcterms:modified>
</cp:coreProperties>
</file>